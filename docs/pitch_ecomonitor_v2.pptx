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7B6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457200" cy="5143500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EcoMonitor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7432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Industrial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3246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normativo ambiental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tiempo real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31920" y="10972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sistema que convierte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regulación ambiental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ventaja competitiva.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931920" y="274320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0" y="2743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SEMARNAT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120640" y="274320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2743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PROFEPA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17920" y="274320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2743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CONUEE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223760" y="274320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23760" y="2743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ISO 50001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931920" y="3246120"/>
            <a:ext cx="457200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31920" y="33832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MetalForge de Occidente S.A. de C.V.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Silao, Guanajuato · Mayo 2025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" y="4782312"/>
            <a:ext cx="8412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Solución de software para manufactura industrial · Guanajuato, México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contexto: Guanajuato Industrial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estado de alto crecimiento manufacturero con creciente presión regulatoria ambiental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560320" cy="2194560"/>
          </a:xfrm>
          <a:prstGeom prst="rect">
            <a:avLst/>
          </a:prstGeom>
          <a:solidFill>
            <a:srgbClr val="F0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2560320" cy="54864"/>
          </a:xfrm>
          <a:prstGeom prst="rect">
            <a:avLst/>
          </a:prstGeom>
          <a:solidFill>
            <a:srgbClr val="0A7B6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8132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#5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65760" y="2651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manufacturero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México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325880"/>
            <a:ext cx="2560320" cy="2194560"/>
          </a:xfrm>
          <a:prstGeom prst="rect">
            <a:avLst/>
          </a:prstGeom>
          <a:solidFill>
            <a:srgbClr val="F0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325880"/>
            <a:ext cx="2560320" cy="54864"/>
          </a:xfrm>
          <a:prstGeom prst="rect">
            <a:avLst/>
          </a:prstGeom>
          <a:solidFill>
            <a:srgbClr val="0D1B3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48132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4,200+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3200400" y="2651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industriales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estado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560320" cy="2194560"/>
          </a:xfrm>
          <a:prstGeom prst="rect">
            <a:avLst/>
          </a:prstGeom>
          <a:solidFill>
            <a:srgbClr val="F0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0" y="1325880"/>
            <a:ext cx="2560320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48132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↑62%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6035040" y="2651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auditorías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PROFEPA 2020–2024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EBF5F3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384048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realidad: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Las empresas industriales en GTO enfrentan un entorno regulatorio cada vez más exigente — SEMARNAT, PROFEPA y CONUEE pueden auditar, multar y suspender operaciones. Sin un sistema de monitoreo, el cumplimiento se gestiona con hojas de Excel y estimaciones. Eso ya no es suficiente.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B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cliente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MetalForge de Occidente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S.A. de C.V.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1993392" cy="329184"/>
          </a:xfrm>
          <a:prstGeom prst="rect">
            <a:avLst/>
          </a:prstGeom>
          <a:solidFill>
            <a:srgbClr val="1523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0992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6824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Silao, Guanajuato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06040" y="1664208"/>
            <a:ext cx="1993392" cy="329184"/>
          </a:xfrm>
          <a:prstGeom prst="rect">
            <a:avLst/>
          </a:prstGeom>
          <a:solidFill>
            <a:srgbClr val="1523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192" y="170992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53512" y="16824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 metalmecánica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0" y="1664208"/>
            <a:ext cx="1993392" cy="329184"/>
          </a:xfrm>
          <a:prstGeom prst="rect">
            <a:avLst/>
          </a:prstGeom>
          <a:solidFill>
            <a:srgbClr val="1523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70992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02352" y="16824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empleados directos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903720" y="1664208"/>
            <a:ext cx="1993392" cy="329184"/>
          </a:xfrm>
          <a:prstGeom prst="rect">
            <a:avLst/>
          </a:prstGeom>
          <a:solidFill>
            <a:srgbClr val="1523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1709928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51192" y="16824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naves industriales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457200" y="2148840"/>
            <a:ext cx="8321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57200" y="2286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Procesos productivos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2679192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Estampado en frío de lámina de acero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Pintura electrostática y líquida (solventes orgánicos)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Soldadura MIG/TIG a gran escala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de superficies (fosfatizado, decapado con ácidos)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663440" y="2240280"/>
            <a:ext cx="0" cy="256032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84632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Situación actual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846320" y="2679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OEM: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355080" y="2679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· GM · Stellantis (Bajío)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846320" y="3118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Facturación: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355080" y="31181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~$280 MXN millones anuales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846320" y="3557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Auditoría: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355080" y="35570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PROFEPA programada Q3 2025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846320" y="39959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OEM: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355080" y="39959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ambiental como requisito de proveedor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484632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actual: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6355080" y="4434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sin trazabilidad ni evidencia documental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 que resolvemos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MetalForge de Occidente — Manufactura metalmecánica, Silao GTO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1417320"/>
          </a:xfrm>
          <a:prstGeom prst="rect">
            <a:avLst/>
          </a:prstGeom>
          <a:solidFill>
            <a:srgbClr val="15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141732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7160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353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trazabilidad de residuos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" y="179222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residuos peligrosos en Excel sin manifiestos ni evidencia para PROFEPA.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00600" y="1280160"/>
            <a:ext cx="4114800" cy="1417320"/>
          </a:xfrm>
          <a:prstGeom prst="rect">
            <a:avLst/>
          </a:prstGeom>
          <a:solidFill>
            <a:srgbClr val="15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1280160"/>
            <a:ext cx="54864" cy="14173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37160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353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Descargas sin monitoreo continuo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10328" y="179222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metales y DBO del proceso de fosfatizado no se miden en tiempo real vs. NOM-001-SEMARNAT-2021.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65760" y="2880360"/>
            <a:ext cx="4114800" cy="1417320"/>
          </a:xfrm>
          <a:prstGeom prst="rect">
            <a:avLst/>
          </a:prstGeom>
          <a:solidFill>
            <a:srgbClr val="15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5760" y="2880360"/>
            <a:ext cx="54864" cy="141732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9718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9535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Consumo energético incontrolable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5488" y="339242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de consumo no se puede gestionar. El A/C de una nave vacía cuesta $800–$2,000 MXN/semana.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800600" y="2880360"/>
            <a:ext cx="4114800" cy="1417320"/>
          </a:xfrm>
          <a:prstGeom prst="rect">
            <a:avLst/>
          </a:prstGeom>
          <a:solidFill>
            <a:srgbClr val="15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00600" y="2880360"/>
            <a:ext cx="54864" cy="141732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97180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29535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 con datos estimados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10328" y="339242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Cédula de Operación Anual se presenta con estimaciones inconsistentes — riesgo alto ante SEMARNAT.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PROFEPA programada: Q3 2025 · Clientes OEM exigen certificación ambiental para permanencia en cadena de suministro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Marco regulatorio aplicable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normas que EcoMonitor Industrial ayuda a cumplir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2788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70432"/>
            <a:ext cx="2788920" cy="384048"/>
          </a:xfrm>
          <a:prstGeom prst="rect">
            <a:avLst/>
          </a:prstGeom>
          <a:solidFill>
            <a:srgbClr val="0A7B6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704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Federal · SEMARNAT / CONUEE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NOM-001-SEMARNAT-2021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Descargas de aguas residuales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NOM-052-SEMARNAT-2005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peligrosos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NOM-007-ENER-2014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en alumbrado industrial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NOM-035-ENER-2025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A/C industrial (feb 2026)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— Cédula de Operación Anual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70432"/>
            <a:ext cx="2788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70432"/>
            <a:ext cx="2788920" cy="38404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1704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Ley de Planeación Energética 2025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1627632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CONUEE regula usuarios de alto consumo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de integrar estrategias de eficiencia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 energética: meta 2.9% anual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a empresas con alto consumo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170432"/>
            <a:ext cx="2788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70432"/>
            <a:ext cx="278892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704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Estatal GTO · Internacional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627632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Protección Ambiente Estado GTO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Técnicas Ambientales GTO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Fomento Energías Renovables GTO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50001:2018 — Gestión Energética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14001 — Gestión Ambiental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solución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96112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868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EcoMonitor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Industrial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1874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de monitoreo ambiental y energético con dashboard en tiempo real, alertas automáticas y reporte normativo integrado.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74320" y="3017520"/>
            <a:ext cx="3291840" cy="1691640"/>
          </a:xfrm>
          <a:prstGeom prst="rect">
            <a:avLst/>
          </a:prstGeom>
          <a:solidFill>
            <a:srgbClr val="0A7B6A">
              <a:alpha val="15000"/>
            </a:srgbClr>
          </a:solidFill>
          <a:ln w="19050">
            <a:solidFill>
              <a:srgbClr val="0A7B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15468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sola plataforma para cumplir, monitorear, documentar y reportar ante SEMARNAT, PROFEPA y CONUEE.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0" y="365760"/>
            <a:ext cx="2240280" cy="2103120"/>
          </a:xfrm>
          <a:prstGeom prst="rect">
            <a:avLst/>
          </a:prstGeom>
          <a:solidFill>
            <a:srgbClr val="F0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0" y="365760"/>
            <a:ext cx="2240280" cy="50292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53035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5212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Energía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251960" y="105156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kWh por zona, IDEn, costo estimado, alertas de demanda y A/C.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537960" y="365760"/>
            <a:ext cx="2240280" cy="2103120"/>
          </a:xfrm>
          <a:prstGeom prst="rect">
            <a:avLst/>
          </a:prstGeom>
          <a:solidFill>
            <a:srgbClr val="F0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37960" y="365760"/>
            <a:ext cx="2240280" cy="5029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53035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78040" y="5212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Agua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675120" y="105156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temperatura y flujo vs. límites NOM-001-SEMARNAT en tiempo real.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114800" y="2697480"/>
            <a:ext cx="2240280" cy="2103120"/>
          </a:xfrm>
          <a:prstGeom prst="rect">
            <a:avLst/>
          </a:prstGeom>
          <a:solidFill>
            <a:srgbClr val="F0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114800" y="2697480"/>
            <a:ext cx="2240280" cy="50292"/>
          </a:xfrm>
          <a:prstGeom prst="rect">
            <a:avLst/>
          </a:prstGeom>
          <a:solidFill>
            <a:srgbClr val="0A7B6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286207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54880" y="28529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Normativo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251960" y="338328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obligaciones, upload de evidencias, fechas de vencimiento.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537960" y="2697480"/>
            <a:ext cx="2240280" cy="2103120"/>
          </a:xfrm>
          <a:prstGeom prst="rect">
            <a:avLst/>
          </a:prstGeom>
          <a:solidFill>
            <a:srgbClr val="F0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37960" y="2697480"/>
            <a:ext cx="2240280" cy="50292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2862072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78040" y="28529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Gamificación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675120" y="338328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turno/área, puntos de buenas prácticas, reporte de incidentes.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Cumplimiento normativo: cada módulo, una norma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150876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393192" y="9144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920240" y="914400"/>
            <a:ext cx="256032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1993392" y="914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 aplicable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278892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" name="Text 6"/>
          <p:cNvSpPr/>
          <p:nvPr/>
        </p:nvSpPr>
        <p:spPr>
          <a:xfrm>
            <a:off x="4645152" y="9144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registra el sistema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52360" y="914400"/>
            <a:ext cx="141732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0" name="Text 8"/>
          <p:cNvSpPr/>
          <p:nvPr/>
        </p:nvSpPr>
        <p:spPr>
          <a:xfrm>
            <a:off x="7525512" y="9144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Riesgo sin el sistema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298448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298448"/>
            <a:ext cx="54864" cy="8046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29844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Energía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136245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NOM-007-ENER-2014 · NOM-035-ENER-2025 · Ley de Planeación Energética 2025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45152" y="1362456"/>
            <a:ext cx="2715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consumo kWh por zona, IDEn, alertas de demanda. Evidencia para CONUEE.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25512" y="1371600"/>
            <a:ext cx="1261872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71232" y="1389888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por alto consumo sin plan de eficiencia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185416"/>
            <a:ext cx="8549640" cy="804672"/>
          </a:xfrm>
          <a:prstGeom prst="rect">
            <a:avLst/>
          </a:prstGeom>
          <a:solidFill>
            <a:srgbClr val="F1F8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185416"/>
            <a:ext cx="54864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185416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Agua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224942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NOM-001-SEMARNAT-2021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45152" y="2249424"/>
            <a:ext cx="2715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temperatura y flujo en tiempo real vs. límites permisibles. Alerta antes de incumplir.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25512" y="2258568"/>
            <a:ext cx="1261872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71232" y="2276856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+ suspensión de operaciones por descarga ilegal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072384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072384"/>
            <a:ext cx="54864" cy="804672"/>
          </a:xfrm>
          <a:prstGeom prst="rect">
            <a:avLst/>
          </a:prstGeom>
          <a:solidFill>
            <a:srgbClr val="0A7B6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072384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Normativo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11680" y="31363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NOM-052-SEMARNAT-2005 · LGEEPA · Ley de Fomento Energético GTO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45152" y="3136392"/>
            <a:ext cx="2715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manifiestos de residuos, semáforo de obligaciones, upload de evidencias PDF.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25512" y="3145536"/>
            <a:ext cx="1261872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71232" y="3163824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PROFEPA puede multar y clausurar sin evidencia documental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959352"/>
            <a:ext cx="8549640" cy="804672"/>
          </a:xfrm>
          <a:prstGeom prst="rect">
            <a:avLst/>
          </a:prstGeom>
          <a:solidFill>
            <a:srgbClr val="F1F8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959352"/>
            <a:ext cx="54864" cy="80467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95935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 COA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11680" y="4023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SEMARNAT — Cédula de Operación Anual (30 abril)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45152" y="4023360"/>
            <a:ext cx="2715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automática del reporte anual con datos reales medidos, no estimados.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525512" y="4032504"/>
            <a:ext cx="1261872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1232" y="4050792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 en COA equivalen a omisión — sancionable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EcoMonitor Industrial?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7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Beneficios directos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937760" cy="749808"/>
          </a:xfrm>
          <a:prstGeom prst="rect">
            <a:avLst/>
          </a:prstGeom>
          <a:solidFill>
            <a:srgbClr val="F0F7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50292" cy="749808"/>
          </a:xfrm>
          <a:prstGeom prst="rect">
            <a:avLst/>
          </a:prstGeom>
          <a:solidFill>
            <a:srgbClr val="0A7B6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2704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4447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Cero sorpresas en auditorías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87552" y="17739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obligación normativa con semáforo, evidencia adjunta y fecha de vencimiento visible.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2258568"/>
            <a:ext cx="4937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2258568"/>
            <a:ext cx="50292" cy="749808"/>
          </a:xfrm>
          <a:prstGeom prst="rect">
            <a:avLst/>
          </a:prstGeom>
          <a:solidFill>
            <a:srgbClr val="0D1B3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1401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87552" y="2331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Ahorro energético medible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987552" y="26609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IDEn mensual identifica turnos y zonas de alto desperdicio. Datos para negociar tarifa CFE.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3145536"/>
            <a:ext cx="4937760" cy="749808"/>
          </a:xfrm>
          <a:prstGeom prst="rect">
            <a:avLst/>
          </a:prstGeom>
          <a:solidFill>
            <a:srgbClr val="F0F7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5760" y="3145536"/>
            <a:ext cx="50292" cy="749808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0098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552" y="32186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Permanencia en cadena OEM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87552" y="3547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Toyota, GM y Stellantis exigen cumplimiento ambiental. EcoMonitor es la evidencia.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65760" y="4032504"/>
            <a:ext cx="4937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65760" y="4032504"/>
            <a:ext cx="50292" cy="749808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8795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7552" y="41056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 con datos reales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87552" y="4434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reporte anual SEMARNAT se genera automáticamente, con datos medidos, no estimados.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577840" y="914400"/>
            <a:ext cx="3200400" cy="397764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5760720" y="1051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costo de NO tener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sistema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760720" y="1874520"/>
            <a:ext cx="2834640" cy="804672"/>
          </a:xfrm>
          <a:prstGeom prst="rect">
            <a:avLst/>
          </a:prstGeom>
          <a:solidFill>
            <a:srgbClr val="15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760720" y="191109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$50k–$300k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5760720" y="22951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Multa PROFEPA por incumplimiento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760720" y="2862072"/>
            <a:ext cx="2834640" cy="804672"/>
          </a:xfrm>
          <a:prstGeom prst="rect">
            <a:avLst/>
          </a:prstGeom>
          <a:solidFill>
            <a:srgbClr val="15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760720" y="28986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Suspensión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5760720" y="328269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detenidas hasta regularizar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760720" y="3849624"/>
            <a:ext cx="2834640" cy="804672"/>
          </a:xfrm>
          <a:prstGeom prst="rect">
            <a:avLst/>
          </a:prstGeom>
          <a:solidFill>
            <a:srgbClr val="15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760720" y="38862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Pérdida OEM</a:t>
            </a: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5760720" y="4270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cancelados sin certificación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impacto en MetalForge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vs. después de implementar EcoMonitor Industrial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880360" y="1078992"/>
            <a:ext cx="2880360" cy="329184"/>
          </a:xfrm>
          <a:prstGeom prst="rect">
            <a:avLst/>
          </a:prstGeom>
          <a:solidFill>
            <a:srgbClr val="3D1515"/>
          </a:solidFill>
          <a:ln/>
        </p:spPr>
      </p:sp>
      <p:sp>
        <p:nvSpPr>
          <p:cNvPr id="5" name="Text 3"/>
          <p:cNvSpPr/>
          <p:nvPr/>
        </p:nvSpPr>
        <p:spPr>
          <a:xfrm>
            <a:off x="2880360" y="107899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  Sin EcoMonitor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97880" y="1078992"/>
            <a:ext cx="2880360" cy="329184"/>
          </a:xfrm>
          <a:prstGeom prst="rect">
            <a:avLst/>
          </a:prstGeom>
          <a:solidFill>
            <a:srgbClr val="0A3D2E"/>
          </a:solidFill>
          <a:ln/>
        </p:spPr>
      </p:sp>
      <p:sp>
        <p:nvSpPr>
          <p:cNvPr id="7" name="Text 5"/>
          <p:cNvSpPr/>
          <p:nvPr/>
        </p:nvSpPr>
        <p:spPr>
          <a:xfrm>
            <a:off x="5897880" y="107899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Con EcoMonitor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845820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67335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6184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Residuos peligrosos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0040" y="1508760"/>
            <a:ext cx="50292" cy="7498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Shape 9"/>
          <p:cNvSpPr/>
          <p:nvPr/>
        </p:nvSpPr>
        <p:spPr>
          <a:xfrm>
            <a:off x="2880360" y="1563624"/>
            <a:ext cx="2834640" cy="640080"/>
          </a:xfrm>
          <a:prstGeom prst="rect">
            <a:avLst/>
          </a:prstGeom>
          <a:solidFill>
            <a:srgbClr val="3D1515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2944368" y="16002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sin trazabilidad. Sin manifiestos. Alta probabilidad de sanción en auditoría PROFEPA.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97880" y="1563624"/>
            <a:ext cx="2834640" cy="640080"/>
          </a:xfrm>
          <a:prstGeom prst="rect">
            <a:avLst/>
          </a:prstGeom>
          <a:solidFill>
            <a:srgbClr val="0A3D2E">
              <a:alpha val="7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961888" y="16002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digital con evidencias PDF. Manifiesto completo por evento. Listo para auditoría en 1 clic.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0040" y="2350008"/>
            <a:ext cx="8458200" cy="749808"/>
          </a:xfrm>
          <a:prstGeom prst="rect">
            <a:avLst/>
          </a:prstGeom>
          <a:solidFill>
            <a:srgbClr val="0A1A2E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51460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77240" y="245973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Calidad del agua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20040" y="2350008"/>
            <a:ext cx="50292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6"/>
          <p:cNvSpPr/>
          <p:nvPr/>
        </p:nvSpPr>
        <p:spPr>
          <a:xfrm>
            <a:off x="2880360" y="2404872"/>
            <a:ext cx="2834640" cy="640080"/>
          </a:xfrm>
          <a:prstGeom prst="rect">
            <a:avLst/>
          </a:prstGeom>
          <a:solidFill>
            <a:srgbClr val="3D1515">
              <a:alpha val="6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2944368" y="2441448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medición continua de pH ni temperatura. Riesgo de descarga ilegal sin saberlo.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897880" y="2404872"/>
            <a:ext cx="2834640" cy="640080"/>
          </a:xfrm>
          <a:prstGeom prst="rect">
            <a:avLst/>
          </a:prstGeom>
          <a:solidFill>
            <a:srgbClr val="0A3D2E">
              <a:alpha val="7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5961888" y="2441448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cuando el pH se acerca al límite NOM-001. Acción correctiva antes de incumplir.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20040" y="3191256"/>
            <a:ext cx="845820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355848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77240" y="330098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Consumo energético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320040" y="3191256"/>
            <a:ext cx="50292" cy="749808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8" name="Shape 23"/>
          <p:cNvSpPr/>
          <p:nvPr/>
        </p:nvSpPr>
        <p:spPr>
          <a:xfrm>
            <a:off x="2880360" y="3246120"/>
            <a:ext cx="2834640" cy="640080"/>
          </a:xfrm>
          <a:prstGeom prst="rect">
            <a:avLst/>
          </a:prstGeom>
          <a:solidFill>
            <a:srgbClr val="3D1515">
              <a:alpha val="60000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2944368" y="3282696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CFE sin desglose por zona. Sin IDEn. A/C encendido en naves vacías.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897880" y="3246120"/>
            <a:ext cx="2834640" cy="640080"/>
          </a:xfrm>
          <a:prstGeom prst="rect">
            <a:avLst/>
          </a:prstGeom>
          <a:solidFill>
            <a:srgbClr val="0A3D2E">
              <a:alpha val="7000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5961888" y="3282696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por zona y turno. IDEn mensual. Ahorro estimado: 15–25% en costo energético.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320040" y="4032504"/>
            <a:ext cx="8458200" cy="749808"/>
          </a:xfrm>
          <a:prstGeom prst="rect">
            <a:avLst/>
          </a:prstGeom>
          <a:solidFill>
            <a:srgbClr val="0A1A2E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197096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77240" y="41422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 COA anual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320040" y="4032504"/>
            <a:ext cx="50292" cy="7498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6" name="Shape 30"/>
          <p:cNvSpPr/>
          <p:nvPr/>
        </p:nvSpPr>
        <p:spPr>
          <a:xfrm>
            <a:off x="2880360" y="4087368"/>
            <a:ext cx="2834640" cy="640080"/>
          </a:xfrm>
          <a:prstGeom prst="rect">
            <a:avLst/>
          </a:prstGeom>
          <a:solidFill>
            <a:srgbClr val="3D1515">
              <a:alpha val="6000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2944368" y="4123944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Cédula con datos estimados. Inconsistencias. Riesgo de sanción por omisión ante SEMARNAT.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5897880" y="4087368"/>
            <a:ext cx="2834640" cy="640080"/>
          </a:xfrm>
          <a:prstGeom prst="rect">
            <a:avLst/>
          </a:prstGeom>
          <a:solidFill>
            <a:srgbClr val="0A3D2E">
              <a:alpha val="70000"/>
            </a:srgbClr>
          </a:solidFill>
          <a:ln/>
        </p:spPr>
      </p:sp>
      <p:sp>
        <p:nvSpPr>
          <p:cNvPr id="39" name="Text 33"/>
          <p:cNvSpPr/>
          <p:nvPr/>
        </p:nvSpPr>
        <p:spPr>
          <a:xfrm>
            <a:off x="5961888" y="4123944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automática con datos reales medidos durante el año. Presentación antes del 30 de abril.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320040" y="4828032"/>
            <a:ext cx="8458200" cy="228600"/>
          </a:xfrm>
          <a:prstGeom prst="rect">
            <a:avLst/>
          </a:prstGeom>
          <a:solidFill>
            <a:srgbClr val="0A7B6A">
              <a:alpha val="8000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MetalForge pasa de gestión reactiva a cumplimiento proactivo — con evidencia, datos reales y cero sorpresas ante PROFEPA.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EcoMonitor Industrial — Pitch</dc:title>
  <dc:subject>PptxGenJS Presentation</dc:subject>
  <dc:creator>PptxGenJS</dc:creator>
  <cp:lastModifiedBy>PptxGenJS</cp:lastModifiedBy>
  <cp:revision>1</cp:revision>
  <dcterms:created xsi:type="dcterms:W3CDTF">2026-05-20T00:44:41Z</dcterms:created>
  <dcterms:modified xsi:type="dcterms:W3CDTF">2026-05-20T00:44:41Z</dcterms:modified>
</cp:coreProperties>
</file>